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23320"/>
            <a:ext cx="2614612" cy="106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4423320"/>
            <a:ext cx="2614612" cy="1066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423320"/>
            <a:ext cx="2614612" cy="1066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62" y="4423320"/>
            <a:ext cx="2614612" cy="106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5276" y="1367879"/>
            <a:ext cx="11581447" cy="1760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0" sz="4200" i="0" u="none">
                <a:solidFill>
                  <a:srgbClr val="F8FAFC"/>
                </a:solidFill>
                <a:latin typeface="Plus Jakarta Sans ExtraBold"/>
              </a:rPr>
              <a:t>Adaptive AI Framework for 3D Cell Detection, Tracking &amp; Lineage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3318420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An advanced computational pipeline for time-lapse microscopy analysis, real-time 3D spatial mapping, and automatic mitosis family tree reconstruction.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623345"/>
            <a:ext cx="22145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18CF8"/>
                </a:solidFill>
                <a:latin typeface="Plus Jakarta Sans SemiBold"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685" y="4870995"/>
            <a:ext cx="23252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Khan Amaan Adil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5128170"/>
            <a:ext cx="22145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JetBrains Mono"/>
              </a:rPr>
              <a:t>221854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6162" y="4623345"/>
            <a:ext cx="22145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18CF8"/>
                </a:solidFill>
                <a:latin typeface="Plus Jakarta Sans SemiBold"/>
              </a:rP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798" y="4870995"/>
            <a:ext cx="23252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Yedge Narendra Kasturi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6162" y="5128170"/>
            <a:ext cx="22145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JetBrains Mono"/>
              </a:rPr>
              <a:t>231863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4623345"/>
            <a:ext cx="22145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18CF8"/>
                </a:solidFill>
                <a:latin typeface="Plus Jakarta Sans SemiBold"/>
              </a:rP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5910" y="4870995"/>
            <a:ext cx="23252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Yedge Sarang Laxman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5128170"/>
            <a:ext cx="22145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JetBrains Mono"/>
              </a:rPr>
              <a:t>221810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87" y="4623345"/>
            <a:ext cx="22145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18CF8"/>
                </a:solidFill>
                <a:latin typeface="Plus Jakarta Sans SemiBold"/>
              </a:rPr>
              <a:t>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1023" y="4870995"/>
            <a:ext cx="23252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Yedge Jayesh Suresh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6387" y="5128170"/>
            <a:ext cx="22145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JetBrains Mono"/>
              </a:rPr>
              <a:t>231863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0501" y="2967037"/>
            <a:ext cx="7970996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lus Jakarta Sans"/>
              </a:rPr>
              <a:t>Part 1: Biological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7666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Understanding cellular mechanics, motility, growth dynamics, and lineage trees in virtual microscopic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8375"/>
            <a:ext cx="3517850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238375"/>
            <a:ext cx="3517850" cy="3114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238375"/>
            <a:ext cx="3517850" cy="3114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533650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390900"/>
            <a:ext cx="307366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Cell Motility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71900"/>
            <a:ext cx="29273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Simulating micro-space movement characterized by physical vibrations and stochastic shifts, accurately mirroring Brownian Motion observed in real biological specimens.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275" y="253365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32275" y="3390900"/>
            <a:ext cx="307366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Growth &amp;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771900"/>
            <a:ext cx="29273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Cells absorb virtual nutrients dynamically over time, progressively expanding their radius prior to reaching their division maturity threshold.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250" y="2533650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8250" y="3390900"/>
            <a:ext cx="307366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Mitosis &amp; Lineage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3771900"/>
            <a:ext cx="29273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When cells cross age limits, mother cells divide into two daughter cells, recursively constructing complex biological family lineage trees.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2686050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675" y="2686050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4463" y="2686050"/>
            <a:ext cx="314325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85775"/>
            <a:ext cx="11431428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Cellular Dynamics &amp; Mitosis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0543" y="2967037"/>
            <a:ext cx="7310913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lus Jakarta Sans"/>
              </a:rPr>
              <a:t>Part 2: Algorithmic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7666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Step-by-step backend architecture powering detection, spatial matching, mitosis reconstitution, and database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09875"/>
            <a:ext cx="110299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380" y="320516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965" y="3205162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3205162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9134" y="3205162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3719" y="3105150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738" y="3690937"/>
            <a:ext cx="14701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Input /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986212"/>
            <a:ext cx="18212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Raw TIFF upload or synthetic 3D cell generation.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759" y="3690937"/>
            <a:ext cx="1428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1337" y="3690937"/>
            <a:ext cx="124015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3D 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0884" y="3986212"/>
            <a:ext cx="18212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Centroids extracted with radius &amp; confidence scores.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7344" y="3690937"/>
            <a:ext cx="14287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80898" y="3690937"/>
            <a:ext cx="163020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Distance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5469" y="3986212"/>
            <a:ext cx="18212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Euclidean nearest-neighbor association across frames.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1929" y="3690937"/>
            <a:ext cx="1428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70512" y="3690937"/>
            <a:ext cx="116014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Mitosis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0054" y="3986212"/>
            <a:ext cx="18212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Detecting 1-to-2 splits &amp; linking child tracks.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6514" y="3690937"/>
            <a:ext cx="14287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95093" y="3590925"/>
            <a:ext cx="122015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JSON DB 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4639" y="3886200"/>
            <a:ext cx="182120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Validated via Pydantic schemas into structured storage.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485775"/>
            <a:ext cx="11431428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End-to-End Processing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0" y="2847826"/>
            <a:ext cx="53244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 SemiBold"/>
              </a:rPr>
              <a:t>Euclidean Distance Formula: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0" y="3247876"/>
            <a:ext cx="5324475" cy="92422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24625" y="3438376"/>
            <a:ext cx="4848225" cy="543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JetBrains Mono"/>
              </a:rPr>
              <a:t>Distance = √((x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- x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t-1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)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2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+ (y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- y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t-1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)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2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+ (z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- z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t-1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)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2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3247876"/>
            <a:ext cx="38100" cy="92422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0" y="4314973"/>
            <a:ext cx="53244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Used to evaluate proximity between frame t and frame t-1 coordinates for identity assignment.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81250"/>
            <a:ext cx="4991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Frame Shuffling: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The simulator shuffles cell orders and strips tracking IDs to simulate unorganized raw computer vision detections.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24225"/>
            <a:ext cx="4991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Continuous Linking: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The tracker connects temporal points to maintain persistent track identifiers across multi-frame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67200"/>
            <a:ext cx="4991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Distance Thresholds: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Matches points within tight spatial boundaries (e.g., 12µm) to preserve physical tracking continuity.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1458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5756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00537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485775"/>
            <a:ext cx="11431428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Spatial Nearest-Neighbor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95587"/>
            <a:ext cx="5324475" cy="2000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1775" y="3090862"/>
            <a:ext cx="4970621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Database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3471862"/>
            <a:ext cx="47339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All tracking results, metadata, spatial coordinates, and lineage graph connections are thoroughly validated using Pydantic data models before being committed to optimized JSON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525"/>
            <a:ext cx="4991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1-to-2 Split Detection: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When a single mother cell from frame t-1 becomes the nearest neighbor to two distinct cells in frame t, mitosis is flagged.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38500"/>
            <a:ext cx="49911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Track Termination: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The mother cell track safely terminates at frame t-1.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24300"/>
            <a:ext cx="49911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Child Generation: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Two new distinct tracks are instantiated at frame 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0100"/>
            <a:ext cx="49911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Parent-Child Mapping: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Establishes direct lineage edges and updates track hierarchies.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12896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328862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71837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57637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643437"/>
            <a:ext cx="1714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85775"/>
            <a:ext cx="11431428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Mitosis &amp; Division Reconstitution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5347" y="2967037"/>
            <a:ext cx="1044130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lus Jakarta Sans"/>
              </a:rPr>
              <a:t>Part 3: 3D Visualization &amp; Lineage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7666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Interactive WebGL rendering and custom SVG hierarchy charts built for real-time biological data exploration.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2081212"/>
            <a:ext cx="5390673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3D Space Viewport (Three.js)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2081212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193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WebGL Rendering: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Three.js creates a virtual 3D environment complete with custom lighting and OrbitControls.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51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Sphere Meshes: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Each cell is rendered as a 3D sphere at coordinates (x, y, z) with scale proportional to its radius.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909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Historical Trails: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Past cell pathways are rendered using dynamic buffer geometry.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527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385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1243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2081212"/>
            <a:ext cx="5390673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Lineage Tree Hierarchy (SVG)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2081212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193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Custom SVG Architecture: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Built from scratch using native SVG paths without heavy external charting bloat.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51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Time Axis (Y-Axis):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Vertical progression represents time frames from top to bottom.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90987"/>
            <a:ext cx="4943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Division Bridges: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Dotted horizontal bridges connect mother lines to split child tracks.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5272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38525"/>
            <a:ext cx="1238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12432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009775"/>
            <a:ext cx="11029950" cy="35718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09775"/>
          <a:ext cx="11020424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1421"/>
                <a:gridCol w="3806130"/>
                <a:gridCol w="4892873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Core Technology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Key 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Simulation &amp; Detection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Python, NumPy, StarDist/Cellpose concept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Generates 3D cell coordinates, radius, and noise/shuffling.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Tracking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Spatial Euclidean Matching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Links cells across frames and detects mitosis splits.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3D Viewport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React, Three.js, WebGL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Renders spheres, motion trails, and interactive raycasting.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Lineage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Custom SVG Hierarchy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Visualizes family trees and mitosis division bridges.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614612"/>
            <a:ext cx="2321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07208" y="2614612"/>
            <a:ext cx="38061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13339" y="2614612"/>
            <a:ext cx="48928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787" y="3481387"/>
            <a:ext cx="2321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208" y="3481387"/>
            <a:ext cx="38061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3339" y="3481387"/>
            <a:ext cx="48928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787" y="4090987"/>
            <a:ext cx="2321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208" y="4090987"/>
            <a:ext cx="38061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13339" y="4090987"/>
            <a:ext cx="48928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" y="4957762"/>
            <a:ext cx="2321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7208" y="4957762"/>
            <a:ext cx="38061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13339" y="4957762"/>
            <a:ext cx="48928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485775"/>
            <a:ext cx="11431428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System Architecture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2473672"/>
            <a:ext cx="8572500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0" u="none">
                <a:solidFill>
                  <a:srgbClr val="F8FAFC"/>
                </a:solidFill>
                <a:latin typeface="Plus Jakarta Sans SemiBold"/>
              </a:rPr>
              <a:t>"Empowering biological discovery through intelligent 3D tracking and computational visualization."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1037" y="3565177"/>
            <a:ext cx="32099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818CF8"/>
                </a:solidFill>
                <a:latin typeface="Plus Jakarta Sans Medium"/>
              </a:rPr>
              <a:t>Thank You! Questions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184302"/>
            <a:ext cx="857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AI Bio Lab • Adaptive 3D Cell Tracking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